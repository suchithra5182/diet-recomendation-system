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da Bold" charset="1" panose="02000803000000000000"/>
      <p:regular r:id="rId14"/>
    </p:embeddedFont>
    <p:embeddedFont>
      <p:font typeface="Monda" charset="1" panose="02000503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253713"/>
            <a:ext cx="15956463" cy="557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b="true" sz="106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 HEALTH DIET RECOMMENDATION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482939"/>
            <a:ext cx="8311836" cy="5319575"/>
          </a:xfrm>
          <a:custGeom>
            <a:avLst/>
            <a:gdLst/>
            <a:ahLst/>
            <a:cxnLst/>
            <a:rect r="r" b="b" t="t" l="l"/>
            <a:pathLst>
              <a:path h="5319575" w="8311836">
                <a:moveTo>
                  <a:pt x="0" y="5319575"/>
                </a:moveTo>
                <a:lnTo>
                  <a:pt x="8311836" y="5319575"/>
                </a:lnTo>
                <a:lnTo>
                  <a:pt x="8311836" y="0"/>
                </a:lnTo>
                <a:lnTo>
                  <a:pt x="0" y="0"/>
                </a:lnTo>
                <a:lnTo>
                  <a:pt x="0" y="53195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91327" y="-3420266"/>
            <a:ext cx="5167893" cy="7215549"/>
          </a:xfrm>
          <a:custGeom>
            <a:avLst/>
            <a:gdLst/>
            <a:ahLst/>
            <a:cxnLst/>
            <a:rect r="r" b="b" t="t" l="l"/>
            <a:pathLst>
              <a:path h="7215549" w="5167893">
                <a:moveTo>
                  <a:pt x="0" y="0"/>
                </a:moveTo>
                <a:lnTo>
                  <a:pt x="5167893" y="0"/>
                </a:lnTo>
                <a:lnTo>
                  <a:pt x="5167893" y="7215549"/>
                </a:lnTo>
                <a:lnTo>
                  <a:pt x="0" y="72155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94456" y="4444757"/>
            <a:ext cx="11699089" cy="330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5"/>
              </a:lnSpc>
            </a:pPr>
            <a:r>
              <a:rPr lang="en-US" sz="37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This project is a Python-based desktop application that generates personalized diet plans.</a:t>
            </a:r>
          </a:p>
          <a:p>
            <a:pPr algn="ctr">
              <a:lnSpc>
                <a:spcPts val="5255"/>
              </a:lnSpc>
            </a:pPr>
            <a:r>
              <a:rPr lang="en-US" sz="37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It calculates calorie needs, filters healthy foods, and suggests meals based on the user's health profile.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88834" y="2600698"/>
            <a:ext cx="9672231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439525" y="5786089"/>
            <a:ext cx="8128959" cy="5202534"/>
          </a:xfrm>
          <a:custGeom>
            <a:avLst/>
            <a:gdLst/>
            <a:ahLst/>
            <a:cxnLst/>
            <a:rect r="r" b="b" t="t" l="l"/>
            <a:pathLst>
              <a:path h="5202534" w="8128959">
                <a:moveTo>
                  <a:pt x="8128958" y="0"/>
                </a:moveTo>
                <a:lnTo>
                  <a:pt x="0" y="0"/>
                </a:lnTo>
                <a:lnTo>
                  <a:pt x="0" y="5202534"/>
                </a:lnTo>
                <a:lnTo>
                  <a:pt x="8128958" y="5202534"/>
                </a:lnTo>
                <a:lnTo>
                  <a:pt x="812895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750518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22623" y="2345544"/>
            <a:ext cx="9672231" cy="1367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4871" y="4234429"/>
            <a:ext cx="11413686" cy="271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4219" indent="-417110" lvl="1">
              <a:lnSpc>
                <a:spcPts val="5409"/>
              </a:lnSpc>
              <a:buFont typeface="Arial"/>
              <a:buChar char="•"/>
            </a:pPr>
            <a:r>
              <a:rPr lang="en-US" sz="38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Personalized calorie calculation</a:t>
            </a:r>
          </a:p>
          <a:p>
            <a:pPr algn="l" marL="834219" indent="-417110" lvl="1">
              <a:lnSpc>
                <a:spcPts val="5409"/>
              </a:lnSpc>
              <a:buFont typeface="Arial"/>
              <a:buChar char="•"/>
            </a:pPr>
            <a:r>
              <a:rPr lang="en-US" sz="38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Meal planning for breakfast, lunch, dinner</a:t>
            </a:r>
          </a:p>
          <a:p>
            <a:pPr algn="l" marL="834219" indent="-417110" lvl="1">
              <a:lnSpc>
                <a:spcPts val="5409"/>
              </a:lnSpc>
              <a:buFont typeface="Arial"/>
              <a:buChar char="•"/>
            </a:pPr>
            <a:r>
              <a:rPr lang="en-US" sz="38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Health-condition-aware food filtering</a:t>
            </a:r>
          </a:p>
          <a:p>
            <a:pPr algn="l" marL="834219" indent="-417110" lvl="1">
              <a:lnSpc>
                <a:spcPts val="5409"/>
              </a:lnSpc>
              <a:buFont typeface="Arial"/>
              <a:buChar char="•"/>
            </a:pPr>
            <a:r>
              <a:rPr lang="en-US" sz="38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Simple and user-friendly GUI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439525" y="5786089"/>
            <a:ext cx="8128959" cy="5202534"/>
          </a:xfrm>
          <a:custGeom>
            <a:avLst/>
            <a:gdLst/>
            <a:ahLst/>
            <a:cxnLst/>
            <a:rect r="r" b="b" t="t" l="l"/>
            <a:pathLst>
              <a:path h="5202534" w="8128959">
                <a:moveTo>
                  <a:pt x="8128958" y="0"/>
                </a:moveTo>
                <a:lnTo>
                  <a:pt x="0" y="0"/>
                </a:lnTo>
                <a:lnTo>
                  <a:pt x="0" y="5202534"/>
                </a:lnTo>
                <a:lnTo>
                  <a:pt x="8128958" y="5202534"/>
                </a:lnTo>
                <a:lnTo>
                  <a:pt x="812895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750518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85451" y="3962254"/>
            <a:ext cx="14873202" cy="369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3694" indent="-376847" lvl="1">
              <a:lnSpc>
                <a:spcPts val="4887"/>
              </a:lnSpc>
              <a:buFont typeface="Arial"/>
              <a:buChar char="•"/>
            </a:pPr>
            <a:r>
              <a:rPr lang="en-US" sz="349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Many people do not know what foods suit their body type or health condition.</a:t>
            </a:r>
          </a:p>
          <a:p>
            <a:pPr algn="l" marL="753694" indent="-376847" lvl="1">
              <a:lnSpc>
                <a:spcPts val="4887"/>
              </a:lnSpc>
              <a:buFont typeface="Arial"/>
              <a:buChar char="•"/>
            </a:pPr>
            <a:r>
              <a:rPr lang="en-US" sz="349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Manual calorie calculation is difficult and time-consuming.</a:t>
            </a:r>
          </a:p>
          <a:p>
            <a:pPr algn="l" marL="753694" indent="-376847" lvl="1">
              <a:lnSpc>
                <a:spcPts val="4887"/>
              </a:lnSpc>
              <a:buFont typeface="Arial"/>
              <a:buChar char="•"/>
            </a:pPr>
            <a:r>
              <a:rPr lang="en-US" sz="349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People with diabetes or BP often eat unsafe foods unknowingly.</a:t>
            </a:r>
          </a:p>
          <a:p>
            <a:pPr algn="l" marL="753694" indent="-376847" lvl="1">
              <a:lnSpc>
                <a:spcPts val="4887"/>
              </a:lnSpc>
              <a:buFont typeface="Arial"/>
              <a:buChar char="•"/>
            </a:pPr>
            <a:r>
              <a:rPr lang="en-US" sz="349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Existing apps are paid, complicated.</a:t>
            </a:r>
          </a:p>
          <a:p>
            <a:pPr algn="l">
              <a:lnSpc>
                <a:spcPts val="488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740100" y="2120443"/>
            <a:ext cx="11763904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2734" y="4624101"/>
            <a:ext cx="4912615" cy="270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3217" indent="-331609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Name, age, gender</a:t>
            </a:r>
          </a:p>
          <a:p>
            <a:pPr algn="l" marL="663217" indent="-331609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Height, weight</a:t>
            </a:r>
          </a:p>
          <a:p>
            <a:pPr algn="l" marL="663217" indent="-331609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Activity level</a:t>
            </a:r>
          </a:p>
          <a:p>
            <a:pPr algn="l" marL="663217" indent="-331609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Health conditions (diabetes, BP, etc.)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03606" y="623312"/>
            <a:ext cx="9672231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METHODOLOGY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16085" y="3546259"/>
            <a:ext cx="587071" cy="650760"/>
          </a:xfrm>
          <a:custGeom>
            <a:avLst/>
            <a:gdLst/>
            <a:ahLst/>
            <a:cxnLst/>
            <a:rect r="r" b="b" t="t" l="l"/>
            <a:pathLst>
              <a:path h="650760" w="587071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31864" y="3379643"/>
            <a:ext cx="4543485" cy="87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9"/>
              </a:lnSpc>
            </a:pPr>
            <a:r>
              <a:rPr lang="en-US" sz="5135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USER INPUT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941137" y="2570118"/>
            <a:ext cx="587071" cy="650760"/>
          </a:xfrm>
          <a:custGeom>
            <a:avLst/>
            <a:gdLst/>
            <a:ahLst/>
            <a:cxnLst/>
            <a:rect r="r" b="b" t="t" l="l"/>
            <a:pathLst>
              <a:path h="650760" w="587071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58597" y="2319769"/>
            <a:ext cx="8302842" cy="87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9"/>
              </a:lnSpc>
            </a:pPr>
            <a:r>
              <a:rPr lang="en-US" sz="5135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CALORIE CALCULATION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25800" y="3166922"/>
            <a:ext cx="9046717" cy="215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305" indent="-333153" lvl="1">
              <a:lnSpc>
                <a:spcPts val="4320"/>
              </a:lnSpc>
              <a:buFont typeface="Arial"/>
              <a:buChar char="•"/>
            </a:pPr>
            <a:r>
              <a:rPr lang="en-US" sz="3086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Uses scientifically proven Mifflin–St Jeor BMR Formula</a:t>
            </a:r>
          </a:p>
          <a:p>
            <a:pPr algn="l" marL="666305" indent="-333153" lvl="1">
              <a:lnSpc>
                <a:spcPts val="4320"/>
              </a:lnSpc>
              <a:buFont typeface="Arial"/>
              <a:buChar char="•"/>
            </a:pPr>
            <a:r>
              <a:rPr lang="en-US" sz="3086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Adjusts calories based on activity level and goal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941137" y="6009076"/>
            <a:ext cx="587071" cy="650760"/>
          </a:xfrm>
          <a:custGeom>
            <a:avLst/>
            <a:gdLst/>
            <a:ahLst/>
            <a:cxnLst/>
            <a:rect r="r" b="b" t="t" l="l"/>
            <a:pathLst>
              <a:path h="650760" w="587071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758597" y="5780619"/>
            <a:ext cx="3722856" cy="87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9"/>
              </a:lnSpc>
            </a:pPr>
            <a:r>
              <a:rPr lang="en-US" sz="5135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OUTPUT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58597" y="6910351"/>
            <a:ext cx="6361115" cy="106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305" indent="-333153" lvl="1">
              <a:lnSpc>
                <a:spcPts val="4320"/>
              </a:lnSpc>
              <a:buFont typeface="Arial"/>
              <a:buChar char="•"/>
            </a:pPr>
            <a:r>
              <a:rPr lang="en-US" sz="3086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Displays full-day meal plan</a:t>
            </a:r>
          </a:p>
          <a:p>
            <a:pPr algn="l" marL="666305" indent="-333153" lvl="1">
              <a:lnSpc>
                <a:spcPts val="4320"/>
              </a:lnSpc>
              <a:buFont typeface="Arial"/>
              <a:buChar char="•"/>
            </a:pPr>
            <a:r>
              <a:rPr lang="en-US" sz="3086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Give you suggestion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42543" y="901612"/>
            <a:ext cx="12272689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TECHNOLOGIES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1191" y="4060838"/>
            <a:ext cx="11553761" cy="485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5629" indent="-372815" lvl="1">
              <a:lnSpc>
                <a:spcPts val="4835"/>
              </a:lnSpc>
              <a:buFont typeface="Arial"/>
              <a:buChar char="•"/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Python 3.13 – core programming</a:t>
            </a:r>
          </a:p>
          <a:p>
            <a:pPr algn="l" marL="745629" indent="-372815" lvl="1">
              <a:lnSpc>
                <a:spcPts val="4835"/>
              </a:lnSpc>
              <a:buFont typeface="Arial"/>
              <a:buChar char="•"/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HTML5</a:t>
            </a:r>
          </a:p>
          <a:p>
            <a:pPr algn="l" marL="745629" indent="-372815" lvl="1">
              <a:lnSpc>
                <a:spcPts val="4835"/>
              </a:lnSpc>
              <a:buFont typeface="Arial"/>
              <a:buChar char="•"/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CSS3</a:t>
            </a:r>
          </a:p>
          <a:p>
            <a:pPr algn="l" marL="745629" indent="-372815" lvl="1">
              <a:lnSpc>
                <a:spcPts val="4835"/>
              </a:lnSpc>
              <a:buFont typeface="Arial"/>
              <a:buChar char="•"/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Jinja2 Templates</a:t>
            </a:r>
          </a:p>
          <a:p>
            <a:pPr algn="l">
              <a:lnSpc>
                <a:spcPts val="4835"/>
              </a:lnSpc>
            </a:pPr>
          </a:p>
          <a:p>
            <a:pPr algn="l" marL="745629" indent="-372815" lvl="1">
              <a:lnSpc>
                <a:spcPts val="4835"/>
              </a:lnSpc>
              <a:buFont typeface="Arial"/>
              <a:buChar char="•"/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Flask Framework</a:t>
            </a:r>
          </a:p>
          <a:p>
            <a:pPr algn="l" marL="745629" indent="-372815" lvl="1">
              <a:lnSpc>
                <a:spcPts val="4835"/>
              </a:lnSpc>
              <a:buFont typeface="Arial"/>
              <a:buChar char="•"/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BMR-based calorie calculation</a:t>
            </a:r>
          </a:p>
          <a:p>
            <a:pPr algn="l" marL="745629" indent="-372815" lvl="1">
              <a:lnSpc>
                <a:spcPts val="4835"/>
              </a:lnSpc>
              <a:buFont typeface="Arial"/>
              <a:buChar char="•"/>
            </a:pPr>
            <a:r>
              <a:rPr lang="en-US" sz="34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Visual Studio Code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88366" y="2573249"/>
            <a:ext cx="6042095" cy="87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9"/>
              </a:lnSpc>
            </a:pPr>
            <a:r>
              <a:rPr lang="en-US" sz="5135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SOFTWARE TOOLS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4758480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5" y="5948931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07884" y="1511028"/>
            <a:ext cx="9672231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33679" y="3172078"/>
            <a:ext cx="14050805" cy="1233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54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The Health Diet Recommendation System helps users maintain a healthy lifestyle. </a:t>
            </a:r>
            <a:r>
              <a:rPr lang="en-US" sz="354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Easy to use, efficient, and customizable.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0755" y="5094909"/>
            <a:ext cx="14126330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FEATURE ENHANCEMENTS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67119" y="6841582"/>
            <a:ext cx="8172779" cy="24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1036" indent="-375518" lvl="1">
              <a:lnSpc>
                <a:spcPts val="4870"/>
              </a:lnSpc>
              <a:buFont typeface="Arial"/>
              <a:buChar char="•"/>
            </a:pPr>
            <a:r>
              <a:rPr lang="en-US" sz="3478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Machine learning diet prediction</a:t>
            </a:r>
          </a:p>
          <a:p>
            <a:pPr algn="l" marL="751036" indent="-375518" lvl="1">
              <a:lnSpc>
                <a:spcPts val="4870"/>
              </a:lnSpc>
              <a:buFont typeface="Arial"/>
              <a:buChar char="•"/>
            </a:pPr>
            <a:r>
              <a:rPr lang="en-US" sz="3478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Mobile app conversion</a:t>
            </a:r>
          </a:p>
          <a:p>
            <a:pPr algn="l" marL="751036" indent="-375518" lvl="1">
              <a:lnSpc>
                <a:spcPts val="4870"/>
              </a:lnSpc>
              <a:buFont typeface="Arial"/>
              <a:buChar char="•"/>
            </a:pPr>
            <a:r>
              <a:rPr lang="en-US" sz="3478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Larger nutrition dataset</a:t>
            </a:r>
          </a:p>
          <a:p>
            <a:pPr algn="l" marL="751036" indent="-375518" lvl="1">
              <a:lnSpc>
                <a:spcPts val="4870"/>
              </a:lnSpc>
              <a:buFont typeface="Arial"/>
              <a:buChar char="•"/>
            </a:pPr>
            <a:r>
              <a:rPr lang="en-US" sz="3478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Voice assistant integration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3480" y="4136923"/>
            <a:ext cx="12801040" cy="18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b="true" sz="106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DAG7NVYjgQU</dc:identifier>
  <dcterms:modified xsi:type="dcterms:W3CDTF">2011-08-01T06:04:30Z</dcterms:modified>
  <cp:revision>1</cp:revision>
  <dc:title>Blue Modern Elegant Presentation</dc:title>
</cp:coreProperties>
</file>